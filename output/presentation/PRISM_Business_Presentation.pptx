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36576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67DAD2"/>
                </a:solidFill>
                <a:latin typeface="Aptos"/>
              </a:defRPr>
            </a:pPr>
            <a:r>
              <a:t>PRISM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492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ptos"/>
              </a:defRPr>
            </a:pPr>
            <a:r>
              <a:t>Logistics operations</a:t>
            </a:r>
            <a:br/>
            <a:r>
              <a:t>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5577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0">
                <a:solidFill>
                  <a:srgbClr val="C9DAE8"/>
                </a:solidFill>
                <a:latin typeface="Aptos"/>
              </a:defRPr>
            </a:pPr>
            <a:r>
              <a:t>A project-specific business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30752"/>
            <a:ext cx="80467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B0C7D9"/>
                </a:solidFill>
                <a:latin typeface="Aptos"/>
              </a:defRPr>
            </a:pPr>
            <a:r>
              <a:t>Fleet telemetry  /  Corridor conditions  /  Operating procedures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41732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55279" y="1417320"/>
            <a:ext cx="73152" cy="868680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1527048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Operational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1" y="1920240"/>
            <a:ext cx="2980944" cy="2926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Fleet records and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74320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2743200"/>
            <a:ext cx="73152" cy="868680"/>
          </a:xfrm>
          <a:prstGeom prst="rect">
            <a:avLst/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2852928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PRISM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9871" y="3246120"/>
            <a:ext cx="2980944" cy="2926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Tools selected for the question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4069080"/>
            <a:ext cx="3291840" cy="868680"/>
          </a:xfrm>
          <a:prstGeom prst="roundRect">
            <a:avLst>
              <a:gd name="adj" fmla="val 12000"/>
            </a:avLst>
          </a:prstGeom>
          <a:solidFill>
            <a:srgbClr val="F8FCFD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4069080"/>
            <a:ext cx="73152" cy="868680"/>
          </a:xfrm>
          <a:prstGeom prst="rect">
            <a:avLst/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1" y="4178808"/>
            <a:ext cx="2999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Dispatcher guidance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1" y="4572000"/>
            <a:ext cx="2980944" cy="29260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Evidence-informed response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01200" y="2313432"/>
            <a:ext cx="0" cy="374904"/>
          </a:xfrm>
          <a:prstGeom prst="line">
            <a:avLst/>
          </a:prstGeom>
          <a:ln w="25400">
            <a:solidFill>
              <a:srgbClr val="6FC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01200" y="3639312"/>
            <a:ext cx="0" cy="374903"/>
          </a:xfrm>
          <a:prstGeom prst="line">
            <a:avLst/>
          </a:prstGeom>
          <a:ln w="25400">
            <a:solidFill>
              <a:srgbClr val="6FC4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236208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0">
                <a:solidFill>
                  <a:srgbClr val="A4BBCC"/>
                </a:solidFill>
                <a:latin typeface="Aptos"/>
              </a:defRPr>
            </a:pPr>
            <a:r>
              <a:t>Built from the PRISM codebase and supplied operating procedure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WHY PRISM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Operations questions cross data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100" b="0">
                <a:solidFill>
                  <a:srgbClr val="14273D"/>
                </a:solidFill>
                <a:latin typeface="Aptos"/>
              </a:defRPr>
            </a:pPr>
            <a:r>
              <a:t>A dispatcher may need several sources to answer one shipment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337560" cy="7315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3337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C1D33"/>
                </a:solidFill>
                <a:latin typeface="Aptos"/>
              </a:defRPr>
            </a:pPr>
            <a:r>
              <a:t>Fleet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82112"/>
            <a:ext cx="3200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3677D"/>
                </a:solidFill>
                <a:latin typeface="Aptos"/>
              </a:defRPr>
            </a:pPr>
            <a:r>
              <a:t>What does the telemetry say?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423160"/>
            <a:ext cx="3337560" cy="73152"/>
          </a:xfrm>
          <a:prstGeom prst="rect">
            <a:avLst/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3337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C1D33"/>
                </a:solidFill>
                <a:latin typeface="Aptos"/>
              </a:defRPr>
            </a:pPr>
            <a:r>
              <a:t>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182112"/>
            <a:ext cx="3200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3677D"/>
                </a:solidFill>
                <a:latin typeface="Aptos"/>
              </a:defRPr>
            </a:pPr>
            <a:r>
              <a:t>What is happening around the route?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423160"/>
            <a:ext cx="3337560" cy="73152"/>
          </a:xfrm>
          <a:prstGeom prst="rect">
            <a:avLst/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697480"/>
            <a:ext cx="3337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C1D33"/>
                </a:solidFill>
                <a:latin typeface="Aptos"/>
              </a:defRPr>
            </a:pPr>
            <a:r>
              <a:t>Procedure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182112"/>
            <a:ext cx="3200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3677D"/>
                </a:solidFill>
                <a:latin typeface="Aptos"/>
              </a:defRPr>
            </a:pPr>
            <a:r>
              <a:t>Which operating rule applies?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3784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0">
                <a:solidFill>
                  <a:srgbClr val="14273D"/>
                </a:solidFill>
                <a:latin typeface="Aptos"/>
              </a:defRPr>
            </a:pPr>
            <a:r>
              <a:t>PRISM puts these checks behind one conversational interface. The dispatcher still reviews the recommendation and makes the operational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CURRENT APPLICATION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One assistant, three evidence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2148840" cy="914400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73152" cy="914400"/>
          </a:xfrm>
          <a:prstGeom prst="rect">
            <a:avLst/>
          </a:prstGeom>
          <a:solidFill>
            <a:srgbClr val="0C1D33"/>
          </a:solidFill>
          <a:ln>
            <a:solidFill>
              <a:srgbClr val="0C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29968"/>
            <a:ext cx="18562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Dispatcher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183794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Plain-language question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92024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920240"/>
            <a:ext cx="73152" cy="914400"/>
          </a:xfrm>
          <a:prstGeom prst="rect">
            <a:avLst/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029968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Streamlit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423160"/>
            <a:ext cx="215798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app.py routes the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920240"/>
            <a:ext cx="2423160" cy="914400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1920240"/>
            <a:ext cx="73152" cy="914400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5472" y="2029968"/>
            <a:ext cx="213055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LangGraph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2423160"/>
            <a:ext cx="2112264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LLM may call 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572768"/>
            <a:ext cx="1691640" cy="786384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66960" y="1572768"/>
            <a:ext cx="73152" cy="786384"/>
          </a:xfrm>
          <a:prstGeom prst="rect">
            <a:avLst/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1682495"/>
            <a:ext cx="1399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2075688"/>
            <a:ext cx="1380744" cy="2103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Fleet 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2542032"/>
            <a:ext cx="1691640" cy="786384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2542032"/>
            <a:ext cx="73152" cy="786384"/>
          </a:xfrm>
          <a:prstGeom prst="rect">
            <a:avLst/>
          </a:prstGeom>
          <a:solidFill>
            <a:srgbClr val="499C70"/>
          </a:solidFill>
          <a:ln>
            <a:solidFill>
              <a:srgbClr val="499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1552" y="2651760"/>
            <a:ext cx="1399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3044952"/>
            <a:ext cx="1380744" cy="2103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Open-Meteo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3511296"/>
            <a:ext cx="1691640" cy="786384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66960" y="3511296"/>
            <a:ext cx="73152" cy="786384"/>
          </a:xfrm>
          <a:prstGeom prst="rect">
            <a:avLst/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31552" y="3621024"/>
            <a:ext cx="13990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SOP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4014215"/>
            <a:ext cx="1380744" cy="21031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Pinecone RAG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926080" y="2377440"/>
            <a:ext cx="667512" cy="0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44768" y="2377440"/>
            <a:ext cx="832104" cy="0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9509760" y="1938528"/>
            <a:ext cx="402336" cy="301752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09760" y="2395728"/>
            <a:ext cx="402336" cy="530352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09760" y="2542032"/>
            <a:ext cx="402336" cy="1344168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4754880"/>
            <a:ext cx="7498079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3677D"/>
                </a:solidFill>
                <a:latin typeface="Aptos"/>
              </a:defRPr>
            </a:pPr>
            <a:r>
              <a:t>Tool results return to the agent, which writes a user-facing answer.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7784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1">
                <a:solidFill>
                  <a:srgbClr val="14273D"/>
                </a:solidFill>
                <a:latin typeface="Aptos"/>
              </a:defRPr>
            </a:pPr>
            <a:r>
              <a:t>The model does not directly connect to a database. Python tools make the service calls.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TELEMETRY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Fleet data flows through a restricted SQL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286000" cy="987552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73152" cy="98755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19933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CSV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14600"/>
            <a:ext cx="197510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Expected input for the loader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011680"/>
            <a:ext cx="2468880" cy="987552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011680"/>
            <a:ext cx="73152" cy="987552"/>
          </a:xfrm>
          <a:prstGeom prst="rect">
            <a:avLst/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121408"/>
            <a:ext cx="21762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logistics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514600"/>
            <a:ext cx="215798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TBL_SC_FLEET_HIST_RAW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2011680"/>
            <a:ext cx="2286000" cy="987552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2011680"/>
            <a:ext cx="73152" cy="987552"/>
          </a:xfrm>
          <a:prstGeom prst="rect">
            <a:avLst/>
          </a:prstGeom>
          <a:solidFill>
            <a:srgbClr val="499C70"/>
          </a:solidFill>
          <a:ln>
            <a:solidFill>
              <a:srgbClr val="499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2592" y="2121408"/>
            <a:ext cx="19933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FDE_VIEWS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2592" y="2514600"/>
            <a:ext cx="197510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VW_ACTIVE_FLEET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2011680"/>
            <a:ext cx="1828800" cy="987552"/>
          </a:xfrm>
          <a:prstGeom prst="roundRect">
            <a:avLst>
              <a:gd name="adj" fmla="val 12000"/>
            </a:avLst>
          </a:prstGeom>
          <a:solidFill>
            <a:srgbClr val="F1F7FA"/>
          </a:solidFill>
          <a:ln>
            <a:solidFill>
              <a:srgbClr val="CBD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29800" y="2011680"/>
            <a:ext cx="73152" cy="987552"/>
          </a:xfrm>
          <a:prstGeom prst="rect">
            <a:avLst/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2121408"/>
            <a:ext cx="153619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1">
                <a:solidFill>
                  <a:srgbClr val="0C1D33"/>
                </a:solidFill>
                <a:latin typeface="Aptos"/>
              </a:defRPr>
            </a:pPr>
            <a:r>
              <a:t>SQL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94392" y="2514600"/>
            <a:ext cx="1517904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53677D"/>
                </a:solidFill>
                <a:latin typeface="Aptos"/>
              </a:defRPr>
            </a:pPr>
            <a:r>
              <a:t>SELECT, up to 10 rows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63240" y="2514600"/>
            <a:ext cx="530352" cy="0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72200" y="2514600"/>
            <a:ext cx="621792" cy="0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89720" y="2514600"/>
            <a:ext cx="576072" cy="0"/>
          </a:xfrm>
          <a:prstGeom prst="line">
            <a:avLst/>
          </a:prstGeom>
          <a:ln w="20320">
            <a:solidFill>
              <a:srgbClr val="53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3703320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14273D"/>
                </a:solidFill>
                <a:latin typeface="Aptos"/>
              </a:defRPr>
            </a:pPr>
            <a:r>
              <a:t>inject_data.py loads mapped CSV fields into the raw table using replace mode.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07899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700" b="0">
                <a:solidFill>
                  <a:srgbClr val="53677D"/>
                </a:solidFill>
                <a:latin typeface="Aptos"/>
              </a:defRPr>
            </a:pPr>
            <a:r>
              <a:t>security_and_view.sql defines selected readable columns and grants the AI account SELECT on the view. MySQL permissions provide the real access boundary.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86400"/>
            <a:ext cx="107442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400" b="1">
                <a:solidFill>
                  <a:srgbClr val="EC9131"/>
                </a:solidFill>
                <a:latin typeface="Aptos"/>
              </a:defRPr>
            </a:pPr>
            <a:r>
              <a:t>Scope note: the current view selects the source table rows; its name does not itself filter records to only currently active shipments.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KNOWLEDGE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SOP search retrieves relevant procedure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37943"/>
            <a:ext cx="42062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73936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Policy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773936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3677D"/>
                </a:solidFill>
                <a:latin typeface="Aptos"/>
              </a:defRPr>
            </a:pPr>
            <a:r>
              <a:t>Markdown, text, PDF, CSV, or XLSX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578608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33472"/>
            <a:ext cx="42062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69464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Chunk and 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9464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3677D"/>
                </a:solidFill>
                <a:latin typeface="Aptos"/>
              </a:defRPr>
            </a:pPr>
            <a:r>
              <a:t>Local Hugging Face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74136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42062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364992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Pinecone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364992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3677D"/>
                </a:solidFill>
                <a:latin typeface="Aptos"/>
              </a:defRPr>
            </a:pPr>
            <a:r>
              <a:t>384-dimensional vectors plus text 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69663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499C70"/>
          </a:solidFill>
          <a:ln>
            <a:solidFill>
              <a:srgbClr val="499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24527"/>
            <a:ext cx="42062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160520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Question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160520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3677D"/>
                </a:solidFill>
                <a:latin typeface="Aptos"/>
              </a:defRPr>
            </a:pPr>
            <a:r>
              <a:t>Embed query and retrieve top 2 chunks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65192"/>
            <a:ext cx="420624" cy="420624"/>
          </a:xfrm>
          <a:prstGeom prst="roundRect">
            <a:avLst>
              <a:gd name="adj" fmla="val 12000"/>
            </a:avLst>
          </a:prstGeom>
          <a:solidFill>
            <a:srgbClr val="0C1D33"/>
          </a:solidFill>
          <a:ln>
            <a:solidFill>
              <a:srgbClr val="0C1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0055"/>
            <a:ext cx="42062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956048"/>
            <a:ext cx="2423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Agent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4956048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53677D"/>
                </a:solidFill>
                <a:latin typeface="Aptos"/>
              </a:defRPr>
            </a:pPr>
            <a:r>
              <a:t>Use retrieved clauses as supporting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97880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350" b="0">
                <a:solidFill>
                  <a:srgbClr val="14273D"/>
                </a:solidFill>
                <a:latin typeface="Aptos"/>
              </a:defRPr>
            </a:pPr>
            <a:r>
              <a:t>SOP rule example: fresh perishables above 4.0°C trigger a breach; the SOP directs driver contact and cooling restart, with diversion when ETA delay exceeds one hour.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ASSISTANT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The response is assembled during the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92807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1783080"/>
            <a:ext cx="1018641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14273D"/>
                </a:solidFill>
                <a:latin typeface="Aptos"/>
              </a:defRPr>
            </a:pPr>
            <a:r>
              <a:t>The user submits a question in the Dispatch Assistant.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97480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587752"/>
            <a:ext cx="1018641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14273D"/>
                </a:solidFill>
                <a:latin typeface="Aptos"/>
              </a:defRPr>
            </a:pPr>
            <a:r>
              <a:t>The app adds the system instructions and conversation thread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502152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3392424"/>
            <a:ext cx="1018641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14273D"/>
                </a:solidFill>
                <a:latin typeface="Aptos"/>
              </a:defRPr>
            </a:pPr>
            <a:r>
              <a:t>The configured Groq or Gemini model can request one or more registered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06824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6424" y="4197096"/>
            <a:ext cx="1018641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14273D"/>
                </a:solidFill>
                <a:latin typeface="Aptos"/>
              </a:defRPr>
            </a:pPr>
            <a:r>
              <a:t>ToolNode executes SQL, weather, or SOP retrieval and returns results to the model.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111496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5001768"/>
            <a:ext cx="10186416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0">
                <a:solidFill>
                  <a:srgbClr val="14273D"/>
                </a:solidFill>
                <a:latin typeface="Aptos"/>
              </a:defRPr>
            </a:pPr>
            <a:r>
              <a:t>The model formats its final response; Streamlit displays it and redacts detected secrets.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241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1">
                <a:solidFill>
                  <a:srgbClr val="EC9131"/>
                </a:solidFill>
                <a:latin typeface="Aptos"/>
              </a:defRPr>
            </a:pPr>
            <a:r>
              <a:t>The LLM chooses tools at runtime. The system prompt asks for a sequence, but it does not force every integration to run on every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APPLICATION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Four screens support exploration and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2286000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2423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2432304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3677D"/>
                </a:solidFill>
                <a:latin typeface="Aptos"/>
              </a:defRPr>
            </a:pPr>
            <a:r>
              <a:t>Explains PRISM and its available sources.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874519"/>
            <a:ext cx="73152" cy="2286000"/>
          </a:xfrm>
          <a:prstGeom prst="rect">
            <a:avLst/>
          </a:prstGeom>
          <a:solidFill>
            <a:srgbClr val="3671C4"/>
          </a:solidFill>
          <a:ln>
            <a:solidFill>
              <a:srgbClr val="367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1874519"/>
            <a:ext cx="2423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Data 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423160"/>
            <a:ext cx="2432304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3677D"/>
                </a:solidFill>
                <a:latin typeface="Aptos"/>
              </a:defRPr>
            </a:pPr>
            <a:r>
              <a:t>Summarizes the expected local CSV, including risk, temperature, delay and locations.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74519"/>
            <a:ext cx="73152" cy="2286000"/>
          </a:xfrm>
          <a:prstGeom prst="rect">
            <a:avLst/>
          </a:prstGeom>
          <a:solidFill>
            <a:srgbClr val="499C70"/>
          </a:solidFill>
          <a:ln>
            <a:solidFill>
              <a:srgbClr val="499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7" y="1874519"/>
            <a:ext cx="2423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Tool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7" y="2423160"/>
            <a:ext cx="2432304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3677D"/>
                </a:solidFill>
                <a:latin typeface="Aptos"/>
              </a:defRPr>
            </a:pPr>
            <a:r>
              <a:t>Runs MySQL, weather and SOP integrations separately.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72600" y="1874519"/>
            <a:ext cx="73152" cy="2286000"/>
          </a:xfrm>
          <a:prstGeom prst="rect">
            <a:avLst/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8" y="1874519"/>
            <a:ext cx="24231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Dispatch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2423160"/>
            <a:ext cx="2432304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500" b="0">
                <a:solidFill>
                  <a:srgbClr val="53677D"/>
                </a:solidFill>
                <a:latin typeface="Aptos"/>
              </a:defRPr>
            </a:pPr>
            <a:r>
              <a:t>Lets a user ask an operational question and receive a tool-supported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8348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14273D"/>
                </a:solidFill>
                <a:latin typeface="Aptos"/>
              </a:defRPr>
            </a:pPr>
            <a:r>
              <a:t>The explorer reads its CSV independently. It is a local historical-data view, not a live fleet feed.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SECURITY AND OPERATING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Access controls exist, while some governance is not wired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92807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783080"/>
            <a:ext cx="10552176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50" b="0">
                <a:solidFill>
                  <a:srgbClr val="14273D"/>
                </a:solidFill>
                <a:latin typeface="Aptos"/>
              </a:defRPr>
            </a:pPr>
            <a:r>
              <a:t>The SQL tool accepts queries beginning with SELECT and reads through VW_ACTIVE_FLEET.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700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560320"/>
            <a:ext cx="10552176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50" b="0">
                <a:solidFill>
                  <a:srgbClr val="14273D"/>
                </a:solidFill>
                <a:latin typeface="Aptos"/>
              </a:defRPr>
            </a:pPr>
            <a:r>
              <a:t>The database account is intended to read the view and has separate INSERT/SELECT grants on AgentAuditLog.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4728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3337560"/>
            <a:ext cx="10552176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50" b="0">
                <a:solidFill>
                  <a:srgbClr val="14273D"/>
                </a:solidFill>
                <a:latin typeface="Aptos"/>
              </a:defRPr>
            </a:pPr>
            <a:r>
              <a:t>The audit table and grants exist, but the current application code does not write audit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2452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4114800"/>
            <a:ext cx="10552176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50" b="0">
                <a:solidFill>
                  <a:srgbClr val="14273D"/>
                </a:solidFill>
                <a:latin typeface="Aptos"/>
              </a:defRPr>
            </a:pPr>
            <a:r>
              <a:t>Weather comes from Open-Meteo; the displayed disruption score is a simple wind-speed rule, not a traffic feed.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0176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4892040"/>
            <a:ext cx="10552176" cy="7315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50" b="0">
                <a:solidFill>
                  <a:srgbClr val="14273D"/>
                </a:solidFill>
                <a:latin typeface="Aptos"/>
              </a:defRPr>
            </a:pPr>
            <a:r>
              <a:t>No Dockerfile or Compose file is present in this repository snapshot. A locally running MySQL service may still be an external dependency.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9875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000" b="1">
                <a:solidFill>
                  <a:srgbClr val="00979B"/>
                </a:solidFill>
                <a:latin typeface="Aptos"/>
              </a:defRPr>
            </a:pPr>
            <a:r>
              <a:t>PROJECT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22376"/>
            <a:ext cx="10972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3100" b="1">
                <a:solidFill>
                  <a:srgbClr val="0C1D33"/>
                </a:solidFill>
                <a:latin typeface="Aptos"/>
              </a:defRPr>
            </a:pPr>
            <a:r>
              <a:t>PRISM is a working prototype with a clear path to hardening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417320"/>
            <a:ext cx="640080" cy="50292"/>
          </a:xfrm>
          <a:prstGeom prst="rect">
            <a:avLst/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19672"/>
            <a:ext cx="6400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900" b="0">
                <a:solidFill>
                  <a:srgbClr val="53677D"/>
                </a:solidFill>
                <a:latin typeface="Aptos"/>
              </a:defRPr>
            </a:pPr>
            <a:r>
              <a:t>PRISM  |  Logistics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53677D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00979B"/>
                </a:solidFill>
                <a:latin typeface="Aptos"/>
              </a:defRPr>
            </a:pPr>
            <a:r>
              <a:t>Implemented in this codebase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414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331720"/>
            <a:ext cx="47914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Streamlit pages and conversational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0358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2926079"/>
            <a:ext cx="47914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MySQL fleet query tool and restricted-view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3016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520439"/>
            <a:ext cx="47914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Pinecone SOP retrieval with local embeddings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2452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00979B"/>
          </a:solidFill>
          <a:ln>
            <a:solidFill>
              <a:srgbClr val="009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114800"/>
            <a:ext cx="479145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Open-Meteo weather lookup and response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47548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2000" b="1">
                <a:solidFill>
                  <a:srgbClr val="EC9131"/>
                </a:solidFill>
                <a:latin typeface="Aptos"/>
              </a:defRPr>
            </a:pPr>
            <a:r>
              <a:t>Before production 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4414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2331720"/>
            <a:ext cx="460857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Connect a verified, current operational data feed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358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2926079"/>
            <a:ext cx="460857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Wire audit writes and define retention/access controls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63016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8544" y="3520439"/>
            <a:ext cx="460857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Replace hard-coded SQL credentials; narrow database host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2452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C9131"/>
          </a:solidFill>
          <a:ln>
            <a:solidFill>
              <a:srgbClr val="EC9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4114800"/>
            <a:ext cx="4608576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600" b="0">
                <a:solidFill>
                  <a:srgbClr val="14273D"/>
                </a:solidFill>
                <a:latin typeface="Aptos"/>
              </a:defRPr>
            </a:pPr>
            <a:r>
              <a:t>Validate weather/risk logic with operational owners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defRPr sz="1800" b="1">
                <a:solidFill>
                  <a:srgbClr val="0C1D33"/>
                </a:solidFill>
                <a:latin typeface="Aptos"/>
              </a:defRPr>
            </a:pPr>
            <a:r>
              <a:t>PRISM supports dispatcher review. It does not execute dispatch 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